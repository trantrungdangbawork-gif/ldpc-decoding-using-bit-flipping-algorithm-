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Public Sans Bold" charset="1" panose="00000000000000000000"/>
      <p:regular r:id="rId27"/>
    </p:embeddedFont>
    <p:embeddedFont>
      <p:font typeface="K2D Bold" charset="1" panose="00000800000000000000"/>
      <p:regular r:id="rId28"/>
    </p:embeddedFont>
    <p:embeddedFont>
      <p:font typeface="Public Sans" charset="1" panose="000000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8.jpe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804353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6"/>
                </a:lnTo>
                <a:lnTo>
                  <a:pt x="0" y="3608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3659810"/>
            <a:ext cx="1828800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2A2E3A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BÁO CÁO ĐỒ ÁN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5153025"/>
            <a:ext cx="18288000" cy="301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sz="9999" b="true">
                <a:solidFill>
                  <a:srgbClr val="153969"/>
                </a:solidFill>
                <a:latin typeface="K2D Bold"/>
                <a:ea typeface="K2D Bold"/>
                <a:cs typeface="K2D Bold"/>
                <a:sym typeface="K2D Bold"/>
              </a:rPr>
              <a:t>MÃ LDPC VÀ</a:t>
            </a:r>
          </a:p>
          <a:p>
            <a:pPr algn="ctr">
              <a:lnSpc>
                <a:spcPts val="11999"/>
              </a:lnSpc>
            </a:pPr>
            <a:r>
              <a:rPr lang="en-US" sz="9999" b="true">
                <a:solidFill>
                  <a:srgbClr val="153969"/>
                </a:solidFill>
                <a:latin typeface="K2D Bold"/>
                <a:ea typeface="K2D Bold"/>
                <a:cs typeface="K2D Bold"/>
                <a:sym typeface="K2D Bold"/>
              </a:rPr>
              <a:t>THUẬT TOÁN BIT-FLIPPING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179612" y="1804353"/>
            <a:ext cx="3797526" cy="1254930"/>
          </a:xfrm>
          <a:custGeom>
            <a:avLst/>
            <a:gdLst/>
            <a:ahLst/>
            <a:cxnLst/>
            <a:rect r="r" b="b" t="t" l="l"/>
            <a:pathLst>
              <a:path h="1254930" w="3797526">
                <a:moveTo>
                  <a:pt x="0" y="0"/>
                </a:moveTo>
                <a:lnTo>
                  <a:pt x="3797526" y="0"/>
                </a:lnTo>
                <a:lnTo>
                  <a:pt x="3797526" y="1254930"/>
                </a:lnTo>
                <a:lnTo>
                  <a:pt x="0" y="12549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428625"/>
            <a:ext cx="1828800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900" b="tru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TRƯỜNG ĐẠI HỌC KHOA HỌC TỰ NHIÊN – ĐẠI HỌC QUỐC GIA TP.HCM </a:t>
            </a:r>
          </a:p>
          <a:p>
            <a:pPr algn="ctr">
              <a:lnSpc>
                <a:spcPts val="4680"/>
              </a:lnSpc>
            </a:pPr>
            <a:r>
              <a:rPr lang="en-US" sz="3900" b="tru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KHOA ĐIỆN TỬ VIỄN THÔNG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268838"/>
            <a:ext cx="18288000" cy="8018162"/>
            <a:chOff x="0" y="0"/>
            <a:chExt cx="4816593" cy="21117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111779"/>
            </a:xfrm>
            <a:custGeom>
              <a:avLst/>
              <a:gdLst/>
              <a:ahLst/>
              <a:cxnLst/>
              <a:rect r="r" b="b" t="t" l="l"/>
              <a:pathLst>
                <a:path h="211177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11779"/>
                  </a:lnTo>
                  <a:lnTo>
                    <a:pt x="0" y="211177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16593" cy="2178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333203" y="9678747"/>
            <a:ext cx="1621594" cy="1621594"/>
          </a:xfrm>
          <a:custGeom>
            <a:avLst/>
            <a:gdLst/>
            <a:ahLst/>
            <a:cxnLst/>
            <a:rect r="r" b="b" t="t" l="l"/>
            <a:pathLst>
              <a:path h="1621594" w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262068" y="-850323"/>
            <a:ext cx="18550068" cy="3119161"/>
            <a:chOff x="0" y="0"/>
            <a:chExt cx="24733424" cy="41588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112527" y="34130"/>
              <a:ext cx="1772719" cy="1772719"/>
            </a:xfrm>
            <a:custGeom>
              <a:avLst/>
              <a:gdLst/>
              <a:ahLst/>
              <a:cxnLst/>
              <a:rect r="r" b="b" t="t" l="l"/>
              <a:pathLst>
                <a:path h="1772719" w="1772719">
                  <a:moveTo>
                    <a:pt x="0" y="0"/>
                  </a:moveTo>
                  <a:lnTo>
                    <a:pt x="1772719" y="0"/>
                  </a:lnTo>
                  <a:lnTo>
                    <a:pt x="1772719" y="1772719"/>
                  </a:lnTo>
                  <a:lnTo>
                    <a:pt x="0" y="17727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8" id="8"/>
            <p:cNvGrpSpPr/>
            <p:nvPr/>
          </p:nvGrpSpPr>
          <p:grpSpPr>
            <a:xfrm rot="0">
              <a:off x="206536" y="0"/>
              <a:ext cx="24526888" cy="4114800"/>
              <a:chOff x="0" y="0"/>
              <a:chExt cx="4844817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84481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4844817">
                    <a:moveTo>
                      <a:pt x="0" y="0"/>
                    </a:moveTo>
                    <a:lnTo>
                      <a:pt x="4844817" y="0"/>
                    </a:lnTo>
                    <a:lnTo>
                      <a:pt x="4844817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66675"/>
                <a:ext cx="4844817" cy="879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34130"/>
              <a:ext cx="24733424" cy="4124752"/>
              <a:chOff x="0" y="0"/>
              <a:chExt cx="24733424" cy="4124752"/>
            </a:xfrm>
          </p:grpSpPr>
          <p:pic>
            <p:nvPicPr>
              <p:cNvPr name="Picture 12" id="12"/>
              <p:cNvPicPr>
                <a:picLocks noChangeAspect="true"/>
              </p:cNvPicPr>
              <p:nvPr/>
            </p:nvPicPr>
            <p:blipFill>
              <a:blip r:embed="rId6">
                <a:alphaModFix amt="14000"/>
              </a:blip>
              <a:srcRect l="0" t="30901" r="0" b="44067"/>
              <a:stretch>
                <a:fillRect/>
              </a:stretch>
            </p:blipFill>
            <p:spPr>
              <a:xfrm flipH="false" flipV="false">
                <a:off x="0" y="0"/>
                <a:ext cx="24733424" cy="4124752"/>
              </a:xfrm>
              <a:prstGeom prst="rect">
                <a:avLst/>
              </a:prstGeom>
            </p:spPr>
          </p:pic>
        </p:grpSp>
        <p:sp>
          <p:nvSpPr>
            <p:cNvPr name="TextBox 13" id="13"/>
            <p:cNvSpPr txBox="true"/>
            <p:nvPr/>
          </p:nvSpPr>
          <p:spPr>
            <a:xfrm rot="0">
              <a:off x="7617129" y="1435104"/>
              <a:ext cx="9848590" cy="1693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00"/>
                </a:lnSpc>
              </a:pPr>
              <a:r>
                <a:rPr lang="en-US" b="true" sz="8000">
                  <a:solidFill>
                    <a:srgbClr val="FFFFFF"/>
                  </a:solidFill>
                  <a:latin typeface="K2D Bold"/>
                  <a:ea typeface="K2D Bold"/>
                  <a:cs typeface="K2D Bold"/>
                  <a:sym typeface="K2D Bold"/>
                </a:rPr>
                <a:t>NỘI DUNG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951277" y="2900984"/>
            <a:ext cx="12385445" cy="5670292"/>
            <a:chOff x="0" y="0"/>
            <a:chExt cx="16513927" cy="7560389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6513927" cy="2644365"/>
              <a:chOff x="0" y="0"/>
              <a:chExt cx="2287286" cy="366262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287286" cy="366262"/>
              </a:xfrm>
              <a:custGeom>
                <a:avLst/>
                <a:gdLst/>
                <a:ahLst/>
                <a:cxnLst/>
                <a:rect r="r" b="b" t="t" l="l"/>
                <a:pathLst>
                  <a:path h="366262" w="2287286">
                    <a:moveTo>
                      <a:pt x="40782" y="0"/>
                    </a:moveTo>
                    <a:lnTo>
                      <a:pt x="2246504" y="0"/>
                    </a:lnTo>
                    <a:cubicBezTo>
                      <a:pt x="2269027" y="0"/>
                      <a:pt x="2287286" y="18259"/>
                      <a:pt x="2287286" y="40782"/>
                    </a:cubicBezTo>
                    <a:lnTo>
                      <a:pt x="2287286" y="325479"/>
                    </a:lnTo>
                    <a:cubicBezTo>
                      <a:pt x="2287286" y="336296"/>
                      <a:pt x="2282990" y="346669"/>
                      <a:pt x="2275341" y="354317"/>
                    </a:cubicBezTo>
                    <a:cubicBezTo>
                      <a:pt x="2267693" y="361965"/>
                      <a:pt x="2257320" y="366262"/>
                      <a:pt x="2246504" y="366262"/>
                    </a:cubicBezTo>
                    <a:lnTo>
                      <a:pt x="40782" y="366262"/>
                    </a:lnTo>
                    <a:cubicBezTo>
                      <a:pt x="18259" y="366262"/>
                      <a:pt x="0" y="348003"/>
                      <a:pt x="0" y="325479"/>
                    </a:cubicBezTo>
                    <a:lnTo>
                      <a:pt x="0" y="40782"/>
                    </a:lnTo>
                    <a:cubicBezTo>
                      <a:pt x="0" y="29966"/>
                      <a:pt x="4297" y="19593"/>
                      <a:pt x="11945" y="11945"/>
                    </a:cubicBezTo>
                    <a:cubicBezTo>
                      <a:pt x="19593" y="4297"/>
                      <a:pt x="29966" y="0"/>
                      <a:pt x="40782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123825"/>
                <a:ext cx="2287286" cy="490087"/>
              </a:xfrm>
              <a:prstGeom prst="rect">
                <a:avLst/>
              </a:prstGeom>
            </p:spPr>
            <p:txBody>
              <a:bodyPr anchor="ctr" rtlCol="false" tIns="56632" lIns="56632" bIns="56632" rIns="56632"/>
              <a:lstStyle/>
              <a:p>
                <a:pPr algn="ctr">
                  <a:lnSpc>
                    <a:spcPts val="8820"/>
                  </a:lnSpc>
                </a:pPr>
                <a:r>
                  <a:rPr lang="en-US" b="true" sz="6300">
                    <a:solidFill>
                      <a:srgbClr val="FFFFFF"/>
                    </a:solidFill>
                    <a:latin typeface="K2D Bold"/>
                    <a:ea typeface="K2D Bold"/>
                    <a:cs typeface="K2D Bold"/>
                    <a:sym typeface="K2D Bold"/>
                  </a:rPr>
                  <a:t> LÝ THUYẾT</a:t>
                </a: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265455" y="441612"/>
              <a:ext cx="2239502" cy="219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834"/>
                </a:lnSpc>
              </a:pPr>
              <a:r>
                <a:rPr lang="en-US" sz="9881" b="true">
                  <a:solidFill>
                    <a:srgbClr val="FFFFFF"/>
                  </a:solidFill>
                  <a:latin typeface="K2D Bold"/>
                  <a:ea typeface="K2D Bold"/>
                  <a:cs typeface="K2D Bold"/>
                  <a:sym typeface="K2D Bold"/>
                </a:rPr>
                <a:t>1</a:t>
              </a:r>
            </a:p>
          </p:txBody>
        </p:sp>
        <p:grpSp>
          <p:nvGrpSpPr>
            <p:cNvPr name="Group 19" id="19"/>
            <p:cNvGrpSpPr/>
            <p:nvPr/>
          </p:nvGrpSpPr>
          <p:grpSpPr>
            <a:xfrm rot="0">
              <a:off x="0" y="4916024"/>
              <a:ext cx="16513927" cy="2644365"/>
              <a:chOff x="0" y="0"/>
              <a:chExt cx="2287286" cy="36626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287286" cy="366262"/>
              </a:xfrm>
              <a:custGeom>
                <a:avLst/>
                <a:gdLst/>
                <a:ahLst/>
                <a:cxnLst/>
                <a:rect r="r" b="b" t="t" l="l"/>
                <a:pathLst>
                  <a:path h="366262" w="2287286">
                    <a:moveTo>
                      <a:pt x="40782" y="0"/>
                    </a:moveTo>
                    <a:lnTo>
                      <a:pt x="2246504" y="0"/>
                    </a:lnTo>
                    <a:cubicBezTo>
                      <a:pt x="2269027" y="0"/>
                      <a:pt x="2287286" y="18259"/>
                      <a:pt x="2287286" y="40782"/>
                    </a:cubicBezTo>
                    <a:lnTo>
                      <a:pt x="2287286" y="325479"/>
                    </a:lnTo>
                    <a:cubicBezTo>
                      <a:pt x="2287286" y="336296"/>
                      <a:pt x="2282990" y="346669"/>
                      <a:pt x="2275341" y="354317"/>
                    </a:cubicBezTo>
                    <a:cubicBezTo>
                      <a:pt x="2267693" y="361965"/>
                      <a:pt x="2257320" y="366262"/>
                      <a:pt x="2246504" y="366262"/>
                    </a:cubicBezTo>
                    <a:lnTo>
                      <a:pt x="40782" y="366262"/>
                    </a:lnTo>
                    <a:cubicBezTo>
                      <a:pt x="18259" y="366262"/>
                      <a:pt x="0" y="348003"/>
                      <a:pt x="0" y="325479"/>
                    </a:cubicBezTo>
                    <a:lnTo>
                      <a:pt x="0" y="40782"/>
                    </a:lnTo>
                    <a:cubicBezTo>
                      <a:pt x="0" y="29966"/>
                      <a:pt x="4297" y="19593"/>
                      <a:pt x="11945" y="11945"/>
                    </a:cubicBezTo>
                    <a:cubicBezTo>
                      <a:pt x="19593" y="4297"/>
                      <a:pt x="29966" y="0"/>
                      <a:pt x="40782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123825"/>
                <a:ext cx="2287286" cy="490087"/>
              </a:xfrm>
              <a:prstGeom prst="rect">
                <a:avLst/>
              </a:prstGeom>
            </p:spPr>
            <p:txBody>
              <a:bodyPr anchor="ctr" rtlCol="false" tIns="56632" lIns="56632" bIns="56632" rIns="56632"/>
              <a:lstStyle/>
              <a:p>
                <a:pPr algn="ctr">
                  <a:lnSpc>
                    <a:spcPts val="8820"/>
                  </a:lnSpc>
                </a:pPr>
                <a:r>
                  <a:rPr lang="en-US" b="true" sz="6300">
                    <a:solidFill>
                      <a:srgbClr val="FFFFFF"/>
                    </a:solidFill>
                    <a:latin typeface="K2D Bold"/>
                    <a:ea typeface="K2D Bold"/>
                    <a:cs typeface="K2D Bold"/>
                    <a:sym typeface="K2D Bold"/>
                  </a:rPr>
                  <a:t>THỰC HÀNH</a:t>
                </a: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0" y="5357636"/>
              <a:ext cx="2239502" cy="2192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834"/>
                </a:lnSpc>
              </a:pPr>
              <a:r>
                <a:rPr lang="en-US" sz="9881" b="true">
                  <a:solidFill>
                    <a:srgbClr val="FFFFFF"/>
                  </a:solidFill>
                  <a:latin typeface="K2D Bold"/>
                  <a:ea typeface="K2D Bold"/>
                  <a:cs typeface="K2D Bold"/>
                  <a:sym typeface="K2D Bold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401619" y="-1836715"/>
            <a:ext cx="13960430" cy="13960430"/>
          </a:xfrm>
          <a:custGeom>
            <a:avLst/>
            <a:gdLst/>
            <a:ahLst/>
            <a:cxnLst/>
            <a:rect r="r" b="b" t="t" l="l"/>
            <a:pathLst>
              <a:path h="13960430" w="13960430">
                <a:moveTo>
                  <a:pt x="0" y="0"/>
                </a:moveTo>
                <a:lnTo>
                  <a:pt x="13960431" y="0"/>
                </a:lnTo>
                <a:lnTo>
                  <a:pt x="13960431" y="13960430"/>
                </a:lnTo>
                <a:lnTo>
                  <a:pt x="0" y="13960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58812" y="1028700"/>
            <a:ext cx="9484345" cy="8435499"/>
            <a:chOff x="0" y="0"/>
            <a:chExt cx="12645793" cy="1124733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2645793" cy="2657264"/>
              <a:chOff x="0" y="0"/>
              <a:chExt cx="2287286" cy="480628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287286" cy="480628"/>
              </a:xfrm>
              <a:custGeom>
                <a:avLst/>
                <a:gdLst/>
                <a:ahLst/>
                <a:cxnLst/>
                <a:rect r="r" b="b" t="t" l="l"/>
                <a:pathLst>
                  <a:path h="480628" w="2287286">
                    <a:moveTo>
                      <a:pt x="45464" y="0"/>
                    </a:moveTo>
                    <a:lnTo>
                      <a:pt x="2241822" y="0"/>
                    </a:lnTo>
                    <a:cubicBezTo>
                      <a:pt x="2266931" y="0"/>
                      <a:pt x="2287286" y="20355"/>
                      <a:pt x="2287286" y="45464"/>
                    </a:cubicBezTo>
                    <a:lnTo>
                      <a:pt x="2287286" y="435164"/>
                    </a:lnTo>
                    <a:cubicBezTo>
                      <a:pt x="2287286" y="460273"/>
                      <a:pt x="2266931" y="480628"/>
                      <a:pt x="2241822" y="480628"/>
                    </a:cubicBezTo>
                    <a:lnTo>
                      <a:pt x="45464" y="480628"/>
                    </a:lnTo>
                    <a:cubicBezTo>
                      <a:pt x="33407" y="480628"/>
                      <a:pt x="21842" y="475838"/>
                      <a:pt x="13316" y="467312"/>
                    </a:cubicBezTo>
                    <a:cubicBezTo>
                      <a:pt x="4790" y="458786"/>
                      <a:pt x="0" y="447221"/>
                      <a:pt x="0" y="435164"/>
                    </a:cubicBezTo>
                    <a:lnTo>
                      <a:pt x="0" y="45464"/>
                    </a:lnTo>
                    <a:cubicBezTo>
                      <a:pt x="0" y="20355"/>
                      <a:pt x="20355" y="0"/>
                      <a:pt x="45464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85725"/>
                <a:ext cx="2287286" cy="5663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6020"/>
                  </a:lnSpc>
                </a:pPr>
                <a:r>
                  <a:rPr lang="en-US" sz="4300" b="true">
                    <a:solidFill>
                      <a:srgbClr val="FFFFFF"/>
                    </a:solidFill>
                    <a:latin typeface="K2D Bold"/>
                    <a:ea typeface="K2D Bold"/>
                    <a:cs typeface="K2D Bold"/>
                    <a:sym typeface="K2D Bold"/>
                  </a:rPr>
                  <a:t>1. LÝ THUYẾT </a:t>
                </a:r>
              </a:p>
              <a:p>
                <a:pPr algn="ctr">
                  <a:lnSpc>
                    <a:spcPts val="6020"/>
                  </a:lnSpc>
                </a:pPr>
                <a:r>
                  <a:rPr lang="en-US" b="true" sz="4300">
                    <a:solidFill>
                      <a:srgbClr val="FFFFFF"/>
                    </a:solidFill>
                    <a:latin typeface="K2D Bold"/>
                    <a:ea typeface="K2D Bold"/>
                    <a:cs typeface="K2D Bold"/>
                    <a:sym typeface="K2D Bold"/>
                  </a:rPr>
                  <a:t>MÃ HÓA KHỐI TUYẾN TÍNH</a:t>
                </a: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8590068"/>
              <a:ext cx="12645793" cy="2657264"/>
              <a:chOff x="0" y="0"/>
              <a:chExt cx="2287286" cy="48062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287286" cy="480628"/>
              </a:xfrm>
              <a:custGeom>
                <a:avLst/>
                <a:gdLst/>
                <a:ahLst/>
                <a:cxnLst/>
                <a:rect r="r" b="b" t="t" l="l"/>
                <a:pathLst>
                  <a:path h="480628" w="2287286">
                    <a:moveTo>
                      <a:pt x="45464" y="0"/>
                    </a:moveTo>
                    <a:lnTo>
                      <a:pt x="2241822" y="0"/>
                    </a:lnTo>
                    <a:cubicBezTo>
                      <a:pt x="2266931" y="0"/>
                      <a:pt x="2287286" y="20355"/>
                      <a:pt x="2287286" y="45464"/>
                    </a:cubicBezTo>
                    <a:lnTo>
                      <a:pt x="2287286" y="435164"/>
                    </a:lnTo>
                    <a:cubicBezTo>
                      <a:pt x="2287286" y="460273"/>
                      <a:pt x="2266931" y="480628"/>
                      <a:pt x="2241822" y="480628"/>
                    </a:cubicBezTo>
                    <a:lnTo>
                      <a:pt x="45464" y="480628"/>
                    </a:lnTo>
                    <a:cubicBezTo>
                      <a:pt x="33407" y="480628"/>
                      <a:pt x="21842" y="475838"/>
                      <a:pt x="13316" y="467312"/>
                    </a:cubicBezTo>
                    <a:cubicBezTo>
                      <a:pt x="4790" y="458786"/>
                      <a:pt x="0" y="447221"/>
                      <a:pt x="0" y="435164"/>
                    </a:cubicBezTo>
                    <a:lnTo>
                      <a:pt x="0" y="45464"/>
                    </a:lnTo>
                    <a:cubicBezTo>
                      <a:pt x="0" y="20355"/>
                      <a:pt x="20355" y="0"/>
                      <a:pt x="45464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85725"/>
                <a:ext cx="2287286" cy="5663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6020"/>
                  </a:lnSpc>
                </a:pPr>
                <a:r>
                  <a:rPr lang="en-US" sz="4300" b="true">
                    <a:solidFill>
                      <a:srgbClr val="FFFFFF"/>
                    </a:solidFill>
                    <a:latin typeface="K2D Bold"/>
                    <a:ea typeface="K2D Bold"/>
                    <a:cs typeface="K2D Bold"/>
                    <a:sym typeface="K2D Bold"/>
                  </a:rPr>
                  <a:t>3. THUẬT TOÁN</a:t>
                </a:r>
              </a:p>
              <a:p>
                <a:pPr algn="ctr">
                  <a:lnSpc>
                    <a:spcPts val="6020"/>
                  </a:lnSpc>
                </a:pPr>
                <a:r>
                  <a:rPr lang="en-US" b="true" sz="4300">
                    <a:solidFill>
                      <a:srgbClr val="FFFFFF"/>
                    </a:solidFill>
                    <a:latin typeface="K2D Bold"/>
                    <a:ea typeface="K2D Bold"/>
                    <a:cs typeface="K2D Bold"/>
                    <a:sym typeface="K2D Bold"/>
                  </a:rPr>
                  <a:t>BIT-FLIPPING</a:t>
                </a: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4296190"/>
              <a:ext cx="12645793" cy="2657264"/>
              <a:chOff x="0" y="0"/>
              <a:chExt cx="2287286" cy="48062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287286" cy="480628"/>
              </a:xfrm>
              <a:custGeom>
                <a:avLst/>
                <a:gdLst/>
                <a:ahLst/>
                <a:cxnLst/>
                <a:rect r="r" b="b" t="t" l="l"/>
                <a:pathLst>
                  <a:path h="480628" w="2287286">
                    <a:moveTo>
                      <a:pt x="45464" y="0"/>
                    </a:moveTo>
                    <a:lnTo>
                      <a:pt x="2241822" y="0"/>
                    </a:lnTo>
                    <a:cubicBezTo>
                      <a:pt x="2266931" y="0"/>
                      <a:pt x="2287286" y="20355"/>
                      <a:pt x="2287286" y="45464"/>
                    </a:cubicBezTo>
                    <a:lnTo>
                      <a:pt x="2287286" y="435164"/>
                    </a:lnTo>
                    <a:cubicBezTo>
                      <a:pt x="2287286" y="460273"/>
                      <a:pt x="2266931" y="480628"/>
                      <a:pt x="2241822" y="480628"/>
                    </a:cubicBezTo>
                    <a:lnTo>
                      <a:pt x="45464" y="480628"/>
                    </a:lnTo>
                    <a:cubicBezTo>
                      <a:pt x="33407" y="480628"/>
                      <a:pt x="21842" y="475838"/>
                      <a:pt x="13316" y="467312"/>
                    </a:cubicBezTo>
                    <a:cubicBezTo>
                      <a:pt x="4790" y="458786"/>
                      <a:pt x="0" y="447221"/>
                      <a:pt x="0" y="435164"/>
                    </a:cubicBezTo>
                    <a:lnTo>
                      <a:pt x="0" y="45464"/>
                    </a:lnTo>
                    <a:cubicBezTo>
                      <a:pt x="0" y="20355"/>
                      <a:pt x="20355" y="0"/>
                      <a:pt x="45464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85725"/>
                <a:ext cx="2287286" cy="5663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6020"/>
                  </a:lnSpc>
                </a:pPr>
                <a:r>
                  <a:rPr lang="en-US" sz="4300" b="true">
                    <a:solidFill>
                      <a:srgbClr val="FFFFFF"/>
                    </a:solidFill>
                    <a:latin typeface="K2D Bold"/>
                    <a:ea typeface="K2D Bold"/>
                    <a:cs typeface="K2D Bold"/>
                    <a:sym typeface="K2D Bold"/>
                  </a:rPr>
                  <a:t>2. LÝ THUYẾT </a:t>
                </a:r>
              </a:p>
              <a:p>
                <a:pPr algn="ctr">
                  <a:lnSpc>
                    <a:spcPts val="6020"/>
                  </a:lnSpc>
                </a:pPr>
                <a:r>
                  <a:rPr lang="en-US" b="true" sz="4300">
                    <a:solidFill>
                      <a:srgbClr val="FFFFFF"/>
                    </a:solidFill>
                    <a:latin typeface="K2D Bold"/>
                    <a:ea typeface="K2D Bold"/>
                    <a:cs typeface="K2D Bold"/>
                    <a:sym typeface="K2D Bold"/>
                  </a:rPr>
                  <a:t>MÃ </a:t>
                </a:r>
                <a:r>
                  <a:rPr lang="en-US" b="true" sz="4300">
                    <a:solidFill>
                      <a:srgbClr val="FFFFFF"/>
                    </a:solidFill>
                    <a:latin typeface="K2D Bold"/>
                    <a:ea typeface="K2D Bold"/>
                    <a:cs typeface="K2D Bold"/>
                    <a:sym typeface="K2D Bold"/>
                  </a:rPr>
                  <a:t>LDPC</a:t>
                </a:r>
              </a:p>
            </p:txBody>
          </p:sp>
        </p:grpSp>
      </p:grpSp>
      <p:sp>
        <p:nvSpPr>
          <p:cNvPr name="TextBox 13" id="13"/>
          <p:cNvSpPr txBox="true"/>
          <p:nvPr/>
        </p:nvSpPr>
        <p:spPr>
          <a:xfrm rot="0">
            <a:off x="292525" y="4483883"/>
            <a:ext cx="7900193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b="true" sz="8000">
                <a:solidFill>
                  <a:srgbClr val="FFDE59"/>
                </a:solidFill>
                <a:latin typeface="K2D Bold"/>
                <a:ea typeface="K2D Bold"/>
                <a:cs typeface="K2D Bold"/>
                <a:sym typeface="K2D Bold"/>
              </a:rPr>
              <a:t>LÝ THUYẾT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2525" y="3664733"/>
            <a:ext cx="5257301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b="true" sz="6000">
                <a:solidFill>
                  <a:srgbClr val="2A2E3A"/>
                </a:solidFill>
                <a:latin typeface="K2D Bold"/>
                <a:ea typeface="K2D Bold"/>
                <a:cs typeface="K2D Bold"/>
                <a:sym typeface="K2D Bold"/>
              </a:rPr>
              <a:t>PHẦN 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952418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3509" y="1847677"/>
            <a:ext cx="17260983" cy="8223802"/>
            <a:chOff x="0" y="0"/>
            <a:chExt cx="23014644" cy="1096506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3014644" cy="10965069"/>
              <a:chOff x="0" y="0"/>
              <a:chExt cx="4546102" cy="216594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546102" cy="2165939"/>
              </a:xfrm>
              <a:custGeom>
                <a:avLst/>
                <a:gdLst/>
                <a:ahLst/>
                <a:cxnLst/>
                <a:rect r="r" b="b" t="t" l="l"/>
                <a:pathLst>
                  <a:path h="2165939" w="4546102">
                    <a:moveTo>
                      <a:pt x="22875" y="0"/>
                    </a:moveTo>
                    <a:lnTo>
                      <a:pt x="4523228" y="0"/>
                    </a:lnTo>
                    <a:cubicBezTo>
                      <a:pt x="4535861" y="0"/>
                      <a:pt x="4546102" y="10241"/>
                      <a:pt x="4546102" y="22875"/>
                    </a:cubicBezTo>
                    <a:lnTo>
                      <a:pt x="4546102" y="2143065"/>
                    </a:lnTo>
                    <a:cubicBezTo>
                      <a:pt x="4546102" y="2149132"/>
                      <a:pt x="4543692" y="2154950"/>
                      <a:pt x="4539402" y="2159240"/>
                    </a:cubicBezTo>
                    <a:cubicBezTo>
                      <a:pt x="4535113" y="2163530"/>
                      <a:pt x="4529294" y="2165939"/>
                      <a:pt x="4523228" y="2165939"/>
                    </a:cubicBezTo>
                    <a:lnTo>
                      <a:pt x="22875" y="2165939"/>
                    </a:lnTo>
                    <a:cubicBezTo>
                      <a:pt x="10241" y="2165939"/>
                      <a:pt x="0" y="2155698"/>
                      <a:pt x="0" y="2143065"/>
                    </a:cubicBezTo>
                    <a:lnTo>
                      <a:pt x="0" y="22875"/>
                    </a:lnTo>
                    <a:cubicBezTo>
                      <a:pt x="0" y="10241"/>
                      <a:pt x="10241" y="0"/>
                      <a:pt x="22875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66675"/>
                <a:ext cx="4546102" cy="22326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313836" y="471533"/>
              <a:ext cx="22700807" cy="6084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98826" indent="-399413" lvl="1">
                <a:lnSpc>
                  <a:spcPts val="5179"/>
                </a:lnSpc>
                <a:buFont typeface="Arial"/>
                <a:buChar char="•"/>
              </a:pPr>
              <a:r>
                <a:rPr lang="en-US" sz="36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Mã hóa khối tuyến tính (Linear Block Code) là một lớp mã sửa lỗi tuyến tính</a:t>
              </a:r>
            </a:p>
            <a:p>
              <a:pPr algn="l" marL="798826" indent="-399413" lvl="1">
                <a:lnSpc>
                  <a:spcPts val="5179"/>
                </a:lnSpc>
                <a:buFont typeface="Arial"/>
                <a:buChar char="•"/>
              </a:pPr>
              <a:r>
                <a:rPr lang="en-US" sz="36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Nhằm mục đích phát hiện và sửa lỗi trong quá trình truyền dữ liệu.</a:t>
              </a:r>
            </a:p>
            <a:p>
              <a:pPr algn="l" marL="798826" indent="-399413" lvl="1">
                <a:lnSpc>
                  <a:spcPts val="5179"/>
                </a:lnSpc>
                <a:buFont typeface="Arial"/>
                <a:buChar char="•"/>
              </a:pPr>
              <a:r>
                <a:rPr lang="en-US" sz="36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</a:t>
              </a:r>
              <a:r>
                <a:rPr lang="en-US" sz="36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uồng bit thông tin được chia thành các khối k bit.</a:t>
              </a:r>
            </a:p>
            <a:p>
              <a:pPr algn="l" marL="798826" indent="-399413" lvl="1">
                <a:lnSpc>
                  <a:spcPts val="5179"/>
                </a:lnSpc>
                <a:buFont typeface="Arial"/>
                <a:buChar char="•"/>
              </a:pPr>
              <a:r>
                <a:rPr lang="en-US" sz="36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</a:t>
              </a:r>
              <a:r>
                <a:rPr lang="en-US" sz="36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ỗi khối được mã hóa thành một khối lớn hơn gồm n bit.</a:t>
              </a:r>
            </a:p>
            <a:p>
              <a:pPr algn="l" marL="798826" indent="-399413" lvl="1">
                <a:lnSpc>
                  <a:spcPts val="5179"/>
                </a:lnSpc>
                <a:buFont typeface="Arial"/>
                <a:buChar char="•"/>
              </a:pPr>
              <a:r>
                <a:rPr lang="en-US" sz="36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</a:t>
              </a:r>
              <a:r>
                <a:rPr lang="en-US" sz="36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ác bit đã mã hóa được điều chế và gửi qua kênh.</a:t>
              </a:r>
            </a:p>
            <a:p>
              <a:pPr algn="l" marL="798826" indent="-399413" lvl="1">
                <a:lnSpc>
                  <a:spcPts val="5179"/>
                </a:lnSpc>
                <a:buFont typeface="Arial"/>
                <a:buChar char="•"/>
              </a:pPr>
              <a:r>
                <a:rPr lang="en-US" sz="36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Q</a:t>
              </a:r>
              <a:r>
                <a:rPr lang="en-US" sz="36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uy trình ngược lại được thực hiện ở phía thu.</a:t>
              </a:r>
            </a:p>
            <a:p>
              <a:pPr algn="just">
                <a:lnSpc>
                  <a:spcPts val="5179"/>
                </a:lnSpc>
                <a:spcBef>
                  <a:spcPct val="0"/>
                </a:spcBef>
              </a:pP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2924204" y="6824970"/>
              <a:ext cx="17552699" cy="3247249"/>
            </a:xfrm>
            <a:custGeom>
              <a:avLst/>
              <a:gdLst/>
              <a:ahLst/>
              <a:cxnLst/>
              <a:rect r="r" b="b" t="t" l="l"/>
              <a:pathLst>
                <a:path h="3247249" w="17552699">
                  <a:moveTo>
                    <a:pt x="0" y="0"/>
                  </a:moveTo>
                  <a:lnTo>
                    <a:pt x="17552699" y="0"/>
                  </a:lnTo>
                  <a:lnTo>
                    <a:pt x="17552699" y="3247249"/>
                  </a:lnTo>
                  <a:lnTo>
                    <a:pt x="0" y="3247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0" y="91486"/>
            <a:ext cx="18288000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LÝ THUYẾT</a:t>
            </a:r>
            <a:r>
              <a:rPr lang="en-US" b="true" sz="6999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 MÃ HÓA KHỐI TUYẾN TÍNH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952418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09203" y="1842640"/>
            <a:ext cx="17069595" cy="9217541"/>
            <a:chOff x="0" y="0"/>
            <a:chExt cx="22759460" cy="12290055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2759460" cy="10651946"/>
              <a:chOff x="0" y="0"/>
              <a:chExt cx="4495696" cy="2104088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495696" cy="2104088"/>
              </a:xfrm>
              <a:custGeom>
                <a:avLst/>
                <a:gdLst/>
                <a:ahLst/>
                <a:cxnLst/>
                <a:rect r="r" b="b" t="t" l="l"/>
                <a:pathLst>
                  <a:path h="2104088" w="4495696">
                    <a:moveTo>
                      <a:pt x="23131" y="0"/>
                    </a:moveTo>
                    <a:lnTo>
                      <a:pt x="4472565" y="0"/>
                    </a:lnTo>
                    <a:cubicBezTo>
                      <a:pt x="4485340" y="0"/>
                      <a:pt x="4495696" y="10356"/>
                      <a:pt x="4495696" y="23131"/>
                    </a:cubicBezTo>
                    <a:lnTo>
                      <a:pt x="4495696" y="2080957"/>
                    </a:lnTo>
                    <a:cubicBezTo>
                      <a:pt x="4495696" y="2093732"/>
                      <a:pt x="4485340" y="2104088"/>
                      <a:pt x="4472565" y="2104088"/>
                    </a:cubicBezTo>
                    <a:lnTo>
                      <a:pt x="23131" y="2104088"/>
                    </a:lnTo>
                    <a:cubicBezTo>
                      <a:pt x="10356" y="2104088"/>
                      <a:pt x="0" y="2093732"/>
                      <a:pt x="0" y="2080957"/>
                    </a:cubicBezTo>
                    <a:lnTo>
                      <a:pt x="0" y="23131"/>
                    </a:lnTo>
                    <a:cubicBezTo>
                      <a:pt x="0" y="10356"/>
                      <a:pt x="10356" y="0"/>
                      <a:pt x="23131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66675"/>
                <a:ext cx="4495696" cy="21707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171600" y="286861"/>
              <a:ext cx="22587859" cy="12003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79"/>
                </a:lnSpc>
              </a:pPr>
              <a:r>
                <a:rPr lang="en-US" sz="36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Từ mã đã mã hóa được xác định như sau:</a:t>
              </a:r>
            </a:p>
            <a:p>
              <a:pPr algn="ctr">
                <a:lnSpc>
                  <a:spcPts val="7139"/>
                </a:lnSpc>
              </a:pPr>
              <a:r>
                <a:rPr lang="en-US" sz="5099">
                  <a:solidFill>
                    <a:srgbClr val="FFDE5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 = u * G</a:t>
              </a:r>
            </a:p>
            <a:p>
              <a:pPr algn="l">
                <a:lnSpc>
                  <a:spcPts val="5179"/>
                </a:lnSpc>
              </a:pPr>
              <a:r>
                <a:rPr lang="en-US" sz="36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Tro</a:t>
              </a:r>
              <a:r>
                <a:rPr lang="en-US" sz="36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ng đó:</a:t>
              </a:r>
            </a:p>
            <a:p>
              <a:pPr algn="just" marL="798826" indent="-399413" lvl="1">
                <a:lnSpc>
                  <a:spcPts val="5179"/>
                </a:lnSpc>
                <a:buFont typeface="Arial"/>
                <a:buChar char="•"/>
              </a:pPr>
              <a:r>
                <a:rPr lang="en-US" sz="3699">
                  <a:solidFill>
                    <a:srgbClr val="FFDE5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c: vector từ mã có độ dài n</a:t>
              </a:r>
            </a:p>
            <a:p>
              <a:pPr algn="just" marL="798826" indent="-399413" lvl="1">
                <a:lnSpc>
                  <a:spcPts val="5179"/>
                </a:lnSpc>
                <a:buFont typeface="Arial"/>
                <a:buChar char="•"/>
              </a:pPr>
              <a:r>
                <a:rPr lang="en-US" sz="3699">
                  <a:solidFill>
                    <a:srgbClr val="FFDE5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u: vector thông tin ban đầu có độ dài k</a:t>
              </a:r>
            </a:p>
            <a:p>
              <a:pPr algn="just" marL="798826" indent="-399413" lvl="1">
                <a:lnSpc>
                  <a:spcPts val="5179"/>
                </a:lnSpc>
                <a:buFont typeface="Arial"/>
                <a:buChar char="•"/>
              </a:pPr>
              <a:r>
                <a:rPr lang="en-US" sz="3699">
                  <a:solidFill>
                    <a:srgbClr val="FFDE5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G</a:t>
              </a:r>
              <a:r>
                <a:rPr lang="en-US" sz="3699">
                  <a:solidFill>
                    <a:srgbClr val="FFDE5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: ma</a:t>
              </a:r>
              <a:r>
                <a:rPr lang="en-US" sz="3699">
                  <a:solidFill>
                    <a:srgbClr val="FFDE5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trận sinh kích thước k * n</a:t>
              </a:r>
            </a:p>
            <a:p>
              <a:pPr algn="just">
                <a:lnSpc>
                  <a:spcPts val="5179"/>
                </a:lnSpc>
              </a:pPr>
            </a:p>
            <a:p>
              <a:pPr algn="just">
                <a:lnSpc>
                  <a:spcPts val="5179"/>
                </a:lnSpc>
              </a:pPr>
              <a:r>
                <a:rPr lang="en-US" sz="36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Mọi từ mã đều thỏa mãn:</a:t>
              </a:r>
            </a:p>
            <a:p>
              <a:pPr algn="ctr">
                <a:lnSpc>
                  <a:spcPts val="7139"/>
                </a:lnSpc>
              </a:pPr>
              <a:r>
                <a:rPr lang="en-US" sz="5100">
                  <a:solidFill>
                    <a:srgbClr val="FFDE5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 * H</a:t>
              </a:r>
              <a:r>
                <a:rPr lang="en-US" sz="5100">
                  <a:solidFill>
                    <a:srgbClr val="FFDE5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</a:t>
              </a:r>
              <a:r>
                <a:rPr lang="en-US" sz="5100">
                  <a:solidFill>
                    <a:srgbClr val="FFDE5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= 0</a:t>
              </a:r>
            </a:p>
            <a:p>
              <a:pPr algn="just">
                <a:lnSpc>
                  <a:spcPts val="5179"/>
                </a:lnSpc>
              </a:pPr>
            </a:p>
            <a:p>
              <a:pPr algn="just">
                <a:lnSpc>
                  <a:spcPts val="5179"/>
                </a:lnSpc>
              </a:pPr>
              <a:r>
                <a:rPr lang="en-US" sz="3699">
                  <a:solidFill>
                    <a:srgbClr val="FFDE5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với H là ma trận kiểm tra chẵn lẻ (Parity-Check Matrix).</a:t>
              </a:r>
            </a:p>
            <a:p>
              <a:pPr algn="just">
                <a:lnSpc>
                  <a:spcPts val="5179"/>
                </a:lnSpc>
              </a:pPr>
            </a:p>
            <a:p>
              <a:pPr algn="just">
                <a:lnSpc>
                  <a:spcPts val="51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0" y="91486"/>
            <a:ext cx="18288000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LÝ THUYẾT</a:t>
            </a:r>
            <a:r>
              <a:rPr lang="en-US" b="true" sz="6999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 MÃ HÓA KHỐI TUYẾN TÍNH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952418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02384" y="2221510"/>
            <a:ext cx="17248184" cy="2390683"/>
            <a:chOff x="0" y="0"/>
            <a:chExt cx="4542732" cy="62964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2732" cy="629645"/>
            </a:xfrm>
            <a:custGeom>
              <a:avLst/>
              <a:gdLst/>
              <a:ahLst/>
              <a:cxnLst/>
              <a:rect r="r" b="b" t="t" l="l"/>
              <a:pathLst>
                <a:path h="629645" w="4542732">
                  <a:moveTo>
                    <a:pt x="22892" y="0"/>
                  </a:moveTo>
                  <a:lnTo>
                    <a:pt x="4519840" y="0"/>
                  </a:lnTo>
                  <a:cubicBezTo>
                    <a:pt x="4525911" y="0"/>
                    <a:pt x="4531734" y="2412"/>
                    <a:pt x="4536027" y="6705"/>
                  </a:cubicBezTo>
                  <a:cubicBezTo>
                    <a:pt x="4540320" y="10998"/>
                    <a:pt x="4542732" y="16820"/>
                    <a:pt x="4542732" y="22892"/>
                  </a:cubicBezTo>
                  <a:lnTo>
                    <a:pt x="4542732" y="606753"/>
                  </a:lnTo>
                  <a:cubicBezTo>
                    <a:pt x="4542732" y="612824"/>
                    <a:pt x="4540320" y="618647"/>
                    <a:pt x="4536027" y="622940"/>
                  </a:cubicBezTo>
                  <a:cubicBezTo>
                    <a:pt x="4531734" y="627233"/>
                    <a:pt x="4525911" y="629645"/>
                    <a:pt x="4519840" y="629645"/>
                  </a:cubicBezTo>
                  <a:lnTo>
                    <a:pt x="22892" y="629645"/>
                  </a:lnTo>
                  <a:cubicBezTo>
                    <a:pt x="16820" y="629645"/>
                    <a:pt x="10998" y="627233"/>
                    <a:pt x="6705" y="622940"/>
                  </a:cubicBezTo>
                  <a:cubicBezTo>
                    <a:pt x="2412" y="618647"/>
                    <a:pt x="0" y="612824"/>
                    <a:pt x="0" y="606753"/>
                  </a:cubicBezTo>
                  <a:lnTo>
                    <a:pt x="0" y="22892"/>
                  </a:lnTo>
                  <a:cubicBezTo>
                    <a:pt x="0" y="16820"/>
                    <a:pt x="2412" y="10998"/>
                    <a:pt x="6705" y="6705"/>
                  </a:cubicBezTo>
                  <a:cubicBezTo>
                    <a:pt x="10998" y="2412"/>
                    <a:pt x="16820" y="0"/>
                    <a:pt x="22892" y="0"/>
                  </a:cubicBez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542732" cy="696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923993" y="4783455"/>
            <a:ext cx="11301259" cy="4478124"/>
          </a:xfrm>
          <a:custGeom>
            <a:avLst/>
            <a:gdLst/>
            <a:ahLst/>
            <a:cxnLst/>
            <a:rect r="r" b="b" t="t" l="l"/>
            <a:pathLst>
              <a:path h="4478124" w="11301259">
                <a:moveTo>
                  <a:pt x="0" y="0"/>
                </a:moveTo>
                <a:lnTo>
                  <a:pt x="11301259" y="0"/>
                </a:lnTo>
                <a:lnTo>
                  <a:pt x="11301259" y="4478124"/>
                </a:lnTo>
                <a:lnTo>
                  <a:pt x="0" y="44781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519908" y="2429108"/>
            <a:ext cx="17248184" cy="1899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7" indent="-388618" lvl="1">
              <a:lnSpc>
                <a:spcPts val="5039"/>
              </a:lnSpc>
              <a:spcBef>
                <a:spcPct val="0"/>
              </a:spcBef>
              <a:buFont typeface="Arial"/>
              <a:buChar char="•"/>
            </a:pPr>
            <a:r>
              <a:rPr lang="en-US" sz="35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LDP</a:t>
            </a:r>
            <a:r>
              <a:rPr lang="en-US" sz="35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C (Low-Density Parity-C</a:t>
            </a:r>
            <a:r>
              <a:rPr lang="en-US" sz="35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heck) là mộ</a:t>
            </a:r>
            <a:r>
              <a:rPr lang="en-US" sz="35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 dạng mã hoá khối tuyến tính</a:t>
            </a:r>
          </a:p>
          <a:p>
            <a:pPr algn="l" marL="777237" indent="-388618" lvl="1">
              <a:lnSpc>
                <a:spcPts val="5039"/>
              </a:lnSpc>
              <a:spcBef>
                <a:spcPct val="0"/>
              </a:spcBef>
              <a:buFont typeface="Arial"/>
              <a:buChar char="•"/>
            </a:pPr>
            <a:r>
              <a:rPr lang="en-US" sz="35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Ma trận kiểm tra chẵn lẻ H có tính chất thưa (phần tử 1 rất ít so với phần tử 0)</a:t>
            </a:r>
          </a:p>
          <a:p>
            <a:pPr algn="l">
              <a:lnSpc>
                <a:spcPts val="503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0" y="62911"/>
            <a:ext cx="1828800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LÝ THUYẾT MÃ LDPC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952418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09203" y="1842640"/>
            <a:ext cx="17069595" cy="7988959"/>
            <a:chOff x="0" y="0"/>
            <a:chExt cx="4495696" cy="21040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95696" cy="2104088"/>
            </a:xfrm>
            <a:custGeom>
              <a:avLst/>
              <a:gdLst/>
              <a:ahLst/>
              <a:cxnLst/>
              <a:rect r="r" b="b" t="t" l="l"/>
              <a:pathLst>
                <a:path h="2104088" w="4495696">
                  <a:moveTo>
                    <a:pt x="23131" y="0"/>
                  </a:moveTo>
                  <a:lnTo>
                    <a:pt x="4472565" y="0"/>
                  </a:lnTo>
                  <a:cubicBezTo>
                    <a:pt x="4485340" y="0"/>
                    <a:pt x="4495696" y="10356"/>
                    <a:pt x="4495696" y="23131"/>
                  </a:cubicBezTo>
                  <a:lnTo>
                    <a:pt x="4495696" y="2080957"/>
                  </a:lnTo>
                  <a:cubicBezTo>
                    <a:pt x="4495696" y="2093732"/>
                    <a:pt x="4485340" y="2104088"/>
                    <a:pt x="4472565" y="2104088"/>
                  </a:cubicBezTo>
                  <a:lnTo>
                    <a:pt x="23131" y="2104088"/>
                  </a:lnTo>
                  <a:cubicBezTo>
                    <a:pt x="10356" y="2104088"/>
                    <a:pt x="0" y="2093732"/>
                    <a:pt x="0" y="2080957"/>
                  </a:cubicBezTo>
                  <a:lnTo>
                    <a:pt x="0" y="23131"/>
                  </a:lnTo>
                  <a:cubicBezTo>
                    <a:pt x="0" y="10356"/>
                    <a:pt x="10356" y="0"/>
                    <a:pt x="23131" y="0"/>
                  </a:cubicBez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495696" cy="21707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37903" y="2038736"/>
            <a:ext cx="16940895" cy="729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Từ mã LDPC phải thỏa mãn:</a:t>
            </a:r>
          </a:p>
          <a:p>
            <a:pPr algn="ctr">
              <a:lnSpc>
                <a:spcPts val="7139"/>
              </a:lnSpc>
            </a:pPr>
            <a:r>
              <a:rPr lang="en-US" sz="5099">
                <a:solidFill>
                  <a:srgbClr val="FFDE59"/>
                </a:solidFill>
                <a:latin typeface="Public Sans"/>
                <a:ea typeface="Public Sans"/>
                <a:cs typeface="Public Sans"/>
                <a:sym typeface="Public Sans"/>
              </a:rPr>
              <a:t>c * H</a:t>
            </a:r>
            <a:r>
              <a:rPr lang="en-US" sz="5099">
                <a:solidFill>
                  <a:srgbClr val="FFDE59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en-US" sz="5099">
                <a:solidFill>
                  <a:srgbClr val="FFDE59"/>
                </a:solidFill>
                <a:latin typeface="Public Sans"/>
                <a:ea typeface="Public Sans"/>
                <a:cs typeface="Public Sans"/>
                <a:sym typeface="Public Sans"/>
              </a:rPr>
              <a:t> = 0</a:t>
            </a:r>
          </a:p>
          <a:p>
            <a:pPr algn="ctr">
              <a:lnSpc>
                <a:spcPts val="7139"/>
              </a:lnSpc>
            </a:pP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Tại phía thu, để kiểm tra lỗi, syndrome được tính như sau:</a:t>
            </a:r>
          </a:p>
          <a:p>
            <a:pPr algn="ctr">
              <a:lnSpc>
                <a:spcPts val="7139"/>
              </a:lnSpc>
            </a:pPr>
            <a:r>
              <a:rPr lang="en-US" sz="5100">
                <a:solidFill>
                  <a:srgbClr val="FFDE59"/>
                </a:solidFill>
                <a:latin typeface="Public Sans"/>
                <a:ea typeface="Public Sans"/>
                <a:cs typeface="Public Sans"/>
                <a:sym typeface="Public Sans"/>
              </a:rPr>
              <a:t>s = r * H</a:t>
            </a:r>
            <a:r>
              <a:rPr lang="en-US" sz="5100">
                <a:solidFill>
                  <a:srgbClr val="FFDE59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</a:p>
          <a:p>
            <a:pPr algn="l">
              <a:lnSpc>
                <a:spcPts val="5179"/>
              </a:lnSpc>
            </a:pPr>
          </a:p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Tro</a:t>
            </a:r>
            <a:r>
              <a:rPr lang="en-US" sz="36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ng đó:</a:t>
            </a:r>
          </a:p>
          <a:p>
            <a:pPr algn="just" marL="798826" indent="-399413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FFDE59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r>
              <a:rPr lang="en-US" sz="3699">
                <a:solidFill>
                  <a:srgbClr val="FFDE59"/>
                </a:solidFill>
                <a:latin typeface="Public Sans"/>
                <a:ea typeface="Public Sans"/>
                <a:cs typeface="Public Sans"/>
                <a:sym typeface="Public Sans"/>
              </a:rPr>
              <a:t>: syndrome (vector kiểm tra lỗi), [s = 0 (đúng), s ~= 0 (lỗi)]</a:t>
            </a:r>
          </a:p>
          <a:p>
            <a:pPr algn="just" marL="798826" indent="-399413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FFDE59"/>
                </a:solidFill>
                <a:latin typeface="Public Sans"/>
                <a:ea typeface="Public Sans"/>
                <a:cs typeface="Public Sans"/>
                <a:sym typeface="Public Sans"/>
              </a:rPr>
              <a:t>r</a:t>
            </a:r>
            <a:r>
              <a:rPr lang="en-US" sz="3699">
                <a:solidFill>
                  <a:srgbClr val="FFDE59"/>
                </a:solidFill>
                <a:latin typeface="Public Sans"/>
                <a:ea typeface="Public Sans"/>
                <a:cs typeface="Public Sans"/>
                <a:sym typeface="Public Sans"/>
              </a:rPr>
              <a:t>: vector nhận được sau khi truyền qua kênh </a:t>
            </a:r>
          </a:p>
          <a:p>
            <a:pPr algn="just" marL="798826" indent="-399413" lvl="1">
              <a:lnSpc>
                <a:spcPts val="5179"/>
              </a:lnSpc>
              <a:spcBef>
                <a:spcPct val="0"/>
              </a:spcBef>
              <a:buFont typeface="Arial"/>
              <a:buChar char="•"/>
            </a:pPr>
            <a:r>
              <a:rPr lang="en-US" sz="3699">
                <a:solidFill>
                  <a:srgbClr val="FFDE59"/>
                </a:solidFill>
                <a:latin typeface="Public Sans"/>
                <a:ea typeface="Public Sans"/>
                <a:cs typeface="Public Sans"/>
                <a:sym typeface="Public Sans"/>
              </a:rPr>
              <a:t>H: ma</a:t>
            </a:r>
            <a:r>
              <a:rPr lang="en-US" sz="3699">
                <a:solidFill>
                  <a:srgbClr val="FFDE59"/>
                </a:solidFill>
                <a:latin typeface="Public Sans"/>
                <a:ea typeface="Public Sans"/>
                <a:cs typeface="Public Sans"/>
                <a:sym typeface="Public Sans"/>
              </a:rPr>
              <a:t> trận kiểm tra chẵn lẻ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91486"/>
            <a:ext cx="18288000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LÝ THUYẾT MÃ</a:t>
            </a:r>
            <a:r>
              <a:rPr lang="en-US" b="true" sz="6999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 LDPC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952418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52939" y="6385644"/>
            <a:ext cx="5524329" cy="3899526"/>
          </a:xfrm>
          <a:custGeom>
            <a:avLst/>
            <a:gdLst/>
            <a:ahLst/>
            <a:cxnLst/>
            <a:rect r="r" b="b" t="t" l="l"/>
            <a:pathLst>
              <a:path h="3899526" w="5524329">
                <a:moveTo>
                  <a:pt x="0" y="0"/>
                </a:moveTo>
                <a:lnTo>
                  <a:pt x="5524329" y="0"/>
                </a:lnTo>
                <a:lnTo>
                  <a:pt x="5524329" y="3899526"/>
                </a:lnTo>
                <a:lnTo>
                  <a:pt x="0" y="38995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0" y="62911"/>
            <a:ext cx="1828800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THUẬT TOÁN BIT-FLIPPING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28135" y="1800994"/>
            <a:ext cx="16631730" cy="4441775"/>
            <a:chOff x="0" y="0"/>
            <a:chExt cx="22175640" cy="592236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2175640" cy="5922367"/>
              <a:chOff x="0" y="0"/>
              <a:chExt cx="3777401" cy="100881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777401" cy="1008817"/>
              </a:xfrm>
              <a:custGeom>
                <a:avLst/>
                <a:gdLst/>
                <a:ahLst/>
                <a:cxnLst/>
                <a:rect r="r" b="b" t="t" l="l"/>
                <a:pathLst>
                  <a:path h="1008817" w="3777401">
                    <a:moveTo>
                      <a:pt x="23740" y="0"/>
                    </a:moveTo>
                    <a:lnTo>
                      <a:pt x="3753661" y="0"/>
                    </a:lnTo>
                    <a:cubicBezTo>
                      <a:pt x="3766772" y="0"/>
                      <a:pt x="3777401" y="10629"/>
                      <a:pt x="3777401" y="23740"/>
                    </a:cubicBezTo>
                    <a:lnTo>
                      <a:pt x="3777401" y="985076"/>
                    </a:lnTo>
                    <a:cubicBezTo>
                      <a:pt x="3777401" y="998188"/>
                      <a:pt x="3766772" y="1008817"/>
                      <a:pt x="3753661" y="1008817"/>
                    </a:cubicBezTo>
                    <a:lnTo>
                      <a:pt x="23740" y="1008817"/>
                    </a:lnTo>
                    <a:cubicBezTo>
                      <a:pt x="10629" y="1008817"/>
                      <a:pt x="0" y="998188"/>
                      <a:pt x="0" y="985076"/>
                    </a:cubicBezTo>
                    <a:lnTo>
                      <a:pt x="0" y="23740"/>
                    </a:lnTo>
                    <a:cubicBezTo>
                      <a:pt x="0" y="10629"/>
                      <a:pt x="10629" y="0"/>
                      <a:pt x="23740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66675"/>
                <a:ext cx="3777401" cy="1075492"/>
              </a:xfrm>
              <a:prstGeom prst="rect">
                <a:avLst/>
              </a:prstGeom>
            </p:spPr>
            <p:txBody>
              <a:bodyPr anchor="ctr" rtlCol="false" tIns="58909" lIns="58909" bIns="58909" rIns="58909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0" y="375943"/>
              <a:ext cx="22175640" cy="5208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98829" indent="-399415" lvl="1">
                <a:lnSpc>
                  <a:spcPts val="51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6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Mã LDPC</a:t>
              </a:r>
              <a:r>
                <a:rPr lang="en-US" sz="36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thường được mô tả bằng đồ thị Tanner, là một đồ thị hai phía gồm</a:t>
              </a:r>
              <a:r>
                <a:rPr lang="en-US" sz="36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hai loại nút:</a:t>
              </a:r>
            </a:p>
            <a:p>
              <a:pPr algn="l" marL="798829" indent="-399415" lvl="1">
                <a:lnSpc>
                  <a:spcPts val="51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6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</a:t>
              </a:r>
              <a:r>
                <a:rPr lang="en-US" sz="36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út biến: đại diện cho các bit của từ mã (tương ứng với các cột của H) </a:t>
              </a:r>
            </a:p>
            <a:p>
              <a:pPr algn="l" marL="798829" indent="-399415" lvl="1">
                <a:lnSpc>
                  <a:spcPts val="51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6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</a:t>
              </a:r>
              <a:r>
                <a:rPr lang="en-US" sz="36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út</a:t>
              </a:r>
              <a:r>
                <a:rPr lang="en-US" sz="36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kiểm tra: đại diện cho các phương trình kiểm tra chẵn lẻ (tương ứng với các hàng của H) </a:t>
              </a:r>
            </a:p>
            <a:p>
              <a:pPr algn="l" marL="798829" indent="-399415" lvl="1">
                <a:lnSpc>
                  <a:spcPts val="51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6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Một cạnh được nối giữa nút biến i và nút kiểm tra j nếu phần tử H(j,i) = 1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952418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35999" y="2436505"/>
            <a:ext cx="14342319" cy="5960550"/>
            <a:chOff x="0" y="0"/>
            <a:chExt cx="19123092" cy="79474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9123092" cy="7947400"/>
              <a:chOff x="0" y="0"/>
              <a:chExt cx="3777401" cy="156985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777401" cy="1569857"/>
              </a:xfrm>
              <a:custGeom>
                <a:avLst/>
                <a:gdLst/>
                <a:ahLst/>
                <a:cxnLst/>
                <a:rect r="r" b="b" t="t" l="l"/>
                <a:pathLst>
                  <a:path h="1569857" w="3777401">
                    <a:moveTo>
                      <a:pt x="27530" y="0"/>
                    </a:moveTo>
                    <a:lnTo>
                      <a:pt x="3749871" y="0"/>
                    </a:lnTo>
                    <a:cubicBezTo>
                      <a:pt x="3757173" y="0"/>
                      <a:pt x="3764175" y="2900"/>
                      <a:pt x="3769338" y="8063"/>
                    </a:cubicBezTo>
                    <a:cubicBezTo>
                      <a:pt x="3774500" y="13226"/>
                      <a:pt x="3777401" y="20228"/>
                      <a:pt x="3777401" y="27530"/>
                    </a:cubicBezTo>
                    <a:lnTo>
                      <a:pt x="3777401" y="1542327"/>
                    </a:lnTo>
                    <a:cubicBezTo>
                      <a:pt x="3777401" y="1557531"/>
                      <a:pt x="3765076" y="1569857"/>
                      <a:pt x="3749871" y="1569857"/>
                    </a:cubicBezTo>
                    <a:lnTo>
                      <a:pt x="27530" y="1569857"/>
                    </a:lnTo>
                    <a:cubicBezTo>
                      <a:pt x="12325" y="1569857"/>
                      <a:pt x="0" y="1557531"/>
                      <a:pt x="0" y="1542327"/>
                    </a:cubicBezTo>
                    <a:lnTo>
                      <a:pt x="0" y="27530"/>
                    </a:lnTo>
                    <a:cubicBezTo>
                      <a:pt x="0" y="12325"/>
                      <a:pt x="12325" y="0"/>
                      <a:pt x="27530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66675"/>
                <a:ext cx="3777401" cy="16365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1302673" y="562801"/>
              <a:ext cx="17602276" cy="69367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12468" indent="-356234" lvl="1">
                <a:lnSpc>
                  <a:spcPts val="46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</a:t>
              </a: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huật toán giải mã</a:t>
              </a: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đơn g</a:t>
              </a: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iả</a:t>
              </a: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n, dựa tr</a:t>
              </a: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ên</a:t>
              </a: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quyết đị</a:t>
              </a: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nh cứng</a:t>
              </a:r>
            </a:p>
            <a:p>
              <a:pPr algn="l" marL="712468" indent="-356234" lvl="1">
                <a:lnSpc>
                  <a:spcPts val="46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Hoạ</a:t>
              </a: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</a:t>
              </a: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động trên đồ thị Tanner</a:t>
              </a:r>
            </a:p>
            <a:p>
              <a:pPr algn="l">
                <a:lnSpc>
                  <a:spcPts val="4619"/>
                </a:lnSpc>
                <a:spcBef>
                  <a:spcPct val="0"/>
                </a:spcBef>
              </a:pP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      Nguyên lý</a:t>
              </a:r>
            </a:p>
            <a:p>
              <a:pPr algn="l" marL="712468" indent="-356234" lvl="1">
                <a:lnSpc>
                  <a:spcPts val="46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Nút kiểm tra</a:t>
              </a: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sai → “bỏ phiếu lỗi” cho các bit liên quan</a:t>
              </a:r>
            </a:p>
            <a:p>
              <a:pPr algn="l" marL="712468" indent="-356234" lvl="1">
                <a:lnSpc>
                  <a:spcPts val="46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Mỗi bit nhận nhiều phiếu từ các nút kiểm tra</a:t>
              </a:r>
            </a:p>
            <a:p>
              <a:pPr algn="l" marL="712468" indent="-356234" lvl="1">
                <a:lnSpc>
                  <a:spcPts val="46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Bit có nhiều phiếu lỗi nhất → lật bit (0 ↔ 1)</a:t>
              </a:r>
            </a:p>
            <a:p>
              <a:pPr algn="l">
                <a:lnSpc>
                  <a:spcPts val="4619"/>
                </a:lnSpc>
                <a:spcBef>
                  <a:spcPct val="0"/>
                </a:spcBef>
              </a:pP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      Điều kiện dừng</a:t>
              </a:r>
            </a:p>
            <a:p>
              <a:pPr algn="l" marL="712468" indent="-356234" lvl="1">
                <a:lnSpc>
                  <a:spcPts val="46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Tất cả kiểm tra đều đúng, hoặc</a:t>
              </a:r>
            </a:p>
            <a:p>
              <a:pPr algn="l" marL="712468" indent="-356234" lvl="1">
                <a:lnSpc>
                  <a:spcPts val="46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Đạt số lần lặp tối đa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1471833" y="2168018"/>
              <a:ext cx="666460" cy="632532"/>
            </a:xfrm>
            <a:custGeom>
              <a:avLst/>
              <a:gdLst/>
              <a:ahLst/>
              <a:cxnLst/>
              <a:rect r="r" b="b" t="t" l="l"/>
              <a:pathLst>
                <a:path h="632532" w="666460">
                  <a:moveTo>
                    <a:pt x="0" y="0"/>
                  </a:moveTo>
                  <a:lnTo>
                    <a:pt x="666460" y="0"/>
                  </a:lnTo>
                  <a:lnTo>
                    <a:pt x="666460" y="632532"/>
                  </a:lnTo>
                  <a:lnTo>
                    <a:pt x="0" y="632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471833" y="5315150"/>
              <a:ext cx="666460" cy="632532"/>
            </a:xfrm>
            <a:custGeom>
              <a:avLst/>
              <a:gdLst/>
              <a:ahLst/>
              <a:cxnLst/>
              <a:rect r="r" b="b" t="t" l="l"/>
              <a:pathLst>
                <a:path h="632532" w="666460">
                  <a:moveTo>
                    <a:pt x="0" y="0"/>
                  </a:moveTo>
                  <a:lnTo>
                    <a:pt x="666460" y="0"/>
                  </a:lnTo>
                  <a:lnTo>
                    <a:pt x="666460" y="632531"/>
                  </a:lnTo>
                  <a:lnTo>
                    <a:pt x="0" y="6325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0" y="62911"/>
            <a:ext cx="1828800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THUẬT TOÁN BIT-FLIPPING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401619" y="-1836715"/>
            <a:ext cx="13960430" cy="13960430"/>
          </a:xfrm>
          <a:custGeom>
            <a:avLst/>
            <a:gdLst/>
            <a:ahLst/>
            <a:cxnLst/>
            <a:rect r="r" b="b" t="t" l="l"/>
            <a:pathLst>
              <a:path h="13960430" w="13960430">
                <a:moveTo>
                  <a:pt x="0" y="0"/>
                </a:moveTo>
                <a:lnTo>
                  <a:pt x="13960431" y="0"/>
                </a:lnTo>
                <a:lnTo>
                  <a:pt x="13960431" y="13960430"/>
                </a:lnTo>
                <a:lnTo>
                  <a:pt x="0" y="13960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3953" y="5072846"/>
            <a:ext cx="7900193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FFDE59"/>
                </a:solidFill>
                <a:latin typeface="K2D Bold"/>
                <a:ea typeface="K2D Bold"/>
                <a:cs typeface="K2D Bold"/>
                <a:sym typeface="K2D Bold"/>
              </a:rPr>
              <a:t>THỰC HÀNH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46881" y="3688656"/>
            <a:ext cx="7434336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b="true" sz="6000">
                <a:solidFill>
                  <a:srgbClr val="2A2E3A"/>
                </a:solidFill>
                <a:latin typeface="K2D Bold"/>
                <a:ea typeface="K2D Bold"/>
                <a:cs typeface="K2D Bold"/>
                <a:sym typeface="K2D Bold"/>
              </a:rPr>
              <a:t>PHẦN 2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952418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0568" y="3431636"/>
            <a:ext cx="6187434" cy="3545233"/>
          </a:xfrm>
          <a:custGeom>
            <a:avLst/>
            <a:gdLst/>
            <a:ahLst/>
            <a:cxnLst/>
            <a:rect r="r" b="b" t="t" l="l"/>
            <a:pathLst>
              <a:path h="3545233" w="6187434">
                <a:moveTo>
                  <a:pt x="0" y="0"/>
                </a:moveTo>
                <a:lnTo>
                  <a:pt x="6187434" y="0"/>
                </a:lnTo>
                <a:lnTo>
                  <a:pt x="6187434" y="3545233"/>
                </a:lnTo>
                <a:lnTo>
                  <a:pt x="0" y="35452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05129" y="3116909"/>
            <a:ext cx="11028457" cy="3859960"/>
          </a:xfrm>
          <a:custGeom>
            <a:avLst/>
            <a:gdLst/>
            <a:ahLst/>
            <a:cxnLst/>
            <a:rect r="r" b="b" t="t" l="l"/>
            <a:pathLst>
              <a:path h="3859960" w="11028457">
                <a:moveTo>
                  <a:pt x="0" y="0"/>
                </a:moveTo>
                <a:lnTo>
                  <a:pt x="11028457" y="0"/>
                </a:lnTo>
                <a:lnTo>
                  <a:pt x="11028457" y="3859960"/>
                </a:lnTo>
                <a:lnTo>
                  <a:pt x="0" y="38599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0" y="62911"/>
            <a:ext cx="1828800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THỰC HÀNH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0568" y="1893169"/>
            <a:ext cx="9732883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0013"/>
                </a:solidFill>
                <a:latin typeface="K2D Bold"/>
                <a:ea typeface="K2D Bold"/>
                <a:cs typeface="K2D Bold"/>
                <a:sym typeface="K2D Bold"/>
              </a:rPr>
              <a:t>Câu 1: Vẽ giản đồ Tanner của mã hóa trên?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02418" y="8176941"/>
            <a:ext cx="15056882" cy="1296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+ Các nút bit và các nút kiểm tra được bố trí ở hai bên đối xứng nhau.</a:t>
            </a:r>
          </a:p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+ Nút kiểm tra E_i nối với bit c_j khi và chỉ khi H (i ,j)=1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952418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62911"/>
            <a:ext cx="1828800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THỰC HÀNH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4929" y="1589614"/>
            <a:ext cx="17522449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0013"/>
                </a:solidFill>
                <a:latin typeface="K2D Bold"/>
                <a:ea typeface="K2D Bold"/>
                <a:cs typeface="K2D Bold"/>
                <a:sym typeface="K2D Bold"/>
              </a:rPr>
              <a:t>Câu 2: Cho chuỗi bit ở phía phát là: c=[0 0 1 0 1 1], giả sử bit đầu tiên bị sai. Tham khảo tài liệu đính kèm, sử dụng thuật toán lật bit để tìm lại c ̂.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87082" y="3192989"/>
            <a:ext cx="18000918" cy="6469380"/>
            <a:chOff x="0" y="0"/>
            <a:chExt cx="24001224" cy="862584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988824" y="-76200"/>
              <a:ext cx="21720017" cy="3456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79"/>
                </a:lnSpc>
                <a:spcBef>
                  <a:spcPct val="0"/>
                </a:spcBef>
              </a:pPr>
              <a:r>
                <a:rPr lang="en-US" sz="3699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Codeword c = [0 0 1 0 1 1].</a:t>
              </a:r>
            </a:p>
            <a:p>
              <a:pPr algn="l">
                <a:lnSpc>
                  <a:spcPts val="5179"/>
                </a:lnSpc>
                <a:spcBef>
                  <a:spcPct val="0"/>
                </a:spcBef>
              </a:pPr>
              <a:r>
                <a:rPr lang="en-US" sz="3699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Chuỗi bit nhận được y = [1 0 1 0 1 1].</a:t>
              </a:r>
            </a:p>
            <a:p>
              <a:pPr algn="l">
                <a:lnSpc>
                  <a:spcPts val="5179"/>
                </a:lnSpc>
                <a:spcBef>
                  <a:spcPct val="0"/>
                </a:spcBef>
              </a:pPr>
              <a:r>
                <a:rPr lang="en-US" sz="3699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Khởi tạo Mi = yi</a:t>
              </a:r>
            </a:p>
            <a:p>
              <a:pPr algn="l">
                <a:lnSpc>
                  <a:spcPts val="5179"/>
                </a:lnSpc>
                <a:spcBef>
                  <a:spcPct val="0"/>
                </a:spcBef>
              </a:pPr>
              <a:r>
                <a:rPr lang="en-US" sz="3699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 = [1 0 1 0 1 1]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988824" y="3608493"/>
              <a:ext cx="14278769" cy="8271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79"/>
                </a:lnSpc>
                <a:spcBef>
                  <a:spcPct val="0"/>
                </a:spcBef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4664287"/>
              <a:ext cx="24001224" cy="39615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60"/>
                </a:lnSpc>
                <a:spcBef>
                  <a:spcPct val="0"/>
                </a:spcBef>
              </a:pPr>
              <a:r>
                <a:rPr lang="en-US" sz="340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Nút kiểm tra đầu tiên (E1) là được nối với các nút bit thứ 1, thứ 2 và thứ 4 và do đó thông báo cho lần kiểm tra đầu tiên là </a:t>
              </a:r>
            </a:p>
            <a:p>
              <a:pPr algn="ctr">
                <a:lnSpc>
                  <a:spcPts val="4760"/>
                </a:lnSpc>
                <a:spcBef>
                  <a:spcPct val="0"/>
                </a:spcBef>
              </a:pPr>
              <a:r>
                <a:rPr lang="en-US" sz="340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</a:t>
              </a:r>
              <a:r>
                <a:rPr lang="en-US" sz="340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1,1 = M2 ⊕ M4 = 0 ⊕ 0 = 0 </a:t>
              </a:r>
            </a:p>
            <a:p>
              <a:pPr algn="ctr">
                <a:lnSpc>
                  <a:spcPts val="4760"/>
                </a:lnSpc>
                <a:spcBef>
                  <a:spcPct val="0"/>
                </a:spcBef>
              </a:pPr>
              <a:r>
                <a:rPr lang="en-US" sz="340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E1,2 = M1 ⊕ M4 = 1 ⊕ 0 = 1</a:t>
              </a:r>
            </a:p>
            <a:p>
              <a:pPr algn="ctr">
                <a:lnSpc>
                  <a:spcPts val="4760"/>
                </a:lnSpc>
                <a:spcBef>
                  <a:spcPct val="0"/>
                </a:spcBef>
              </a:pPr>
              <a:r>
                <a:rPr lang="en-US" sz="3400">
                  <a:solidFill>
                    <a:srgbClr val="00000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E1,4 = M1 ⊕ M2 = 1 ⊕ 0 = 1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952418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62911"/>
            <a:ext cx="1828800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THỰC HÀNH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4929" y="1589614"/>
            <a:ext cx="17522449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0013"/>
                </a:solidFill>
                <a:latin typeface="K2D Bold"/>
                <a:ea typeface="K2D Bold"/>
                <a:cs typeface="K2D Bold"/>
                <a:sym typeface="K2D Bold"/>
              </a:rPr>
              <a:t>Câu 2: Cho chuỗi bit ở phía phát là: c=[0 0 1 0 1 1], giả sử bit đầu tiên bị sai. Tham khảo tài liệu đính kèm, sử dụng thuật toán lật bit để tìm lại c ̂.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3541" y="3327634"/>
            <a:ext cx="18000918" cy="719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Nút kiểm tra thứ 2 (E2) là được nối với các nút bit thứ 2, thứ 3 và thứ 5 và do đó thông báo cho lần kiểm tra thứ 2 là </a:t>
            </a:r>
          </a:p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</a:t>
            </a:r>
            <a:r>
              <a:rPr lang="en-US" sz="3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2,2 = M3 ⊕ M5 = 1 ⊕ 1 = 0</a:t>
            </a:r>
          </a:p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E2,3 = M2 ⊕ M5 = 0 ⊕ 1 = 1</a:t>
            </a:r>
          </a:p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E2,5 = M2 ⊕ M3 = 0 ⊕ 1 = 1</a:t>
            </a:r>
          </a:p>
          <a:p>
            <a:pPr algn="ctr">
              <a:lnSpc>
                <a:spcPts val="4760"/>
              </a:lnSpc>
              <a:spcBef>
                <a:spcPct val="0"/>
              </a:spcBef>
            </a:pP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Nút kiểm tra thứ 3 (E3) là được nối với các nút bit thứ 1, thứ 5 và thứ 6 và do đó thông báo cho lần kiểm tra thứ 3 là </a:t>
            </a:r>
          </a:p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E3,1 = M5 ⊕ M6 = 1 ⊕ 1 = 0</a:t>
            </a:r>
          </a:p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E3,5 = M1 ⊕ M6 = 1 ⊕ 1 = 0</a:t>
            </a:r>
          </a:p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E3,6 = M1 ⊕ M5 = 1 ⊕ 1= 0</a:t>
            </a:r>
          </a:p>
          <a:p>
            <a:pPr algn="ctr">
              <a:lnSpc>
                <a:spcPts val="47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952418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62911"/>
            <a:ext cx="1828800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THỰC HÀNH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4929" y="1589614"/>
            <a:ext cx="17522449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0013"/>
                </a:solidFill>
                <a:latin typeface="K2D Bold"/>
                <a:ea typeface="K2D Bold"/>
                <a:cs typeface="K2D Bold"/>
                <a:sym typeface="K2D Bold"/>
              </a:rPr>
              <a:t>Câu 2: Cho chuỗi bit ở phía phát là: c=[0 0 1 0 1 1], giả sử bit đầu tiên bị sai. Tham khảo tài liệu đính kèm, sử dụng thuật toán lật bit để tìm lại c ̂.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3541" y="3327634"/>
            <a:ext cx="18000918" cy="419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Nút kiểm tra thứ 4 (E4) là được nối với các nút bit thứ 3, thứ 4 và thứ 6 và do đó thông báo cho lần kiểm tra thứ 4 là </a:t>
            </a:r>
          </a:p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E4,3 = M4 ⊕ M6 = 0 ⊕ 1 = 1</a:t>
            </a:r>
          </a:p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E4,4 = M3 ⊕ M6 = 1 ⊕ 1 = 0</a:t>
            </a:r>
          </a:p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E4,6 = M3 ⊕ M4 = 1 ⊕ 0 = 1</a:t>
            </a:r>
          </a:p>
          <a:p>
            <a:pPr algn="ctr">
              <a:lnSpc>
                <a:spcPts val="4760"/>
              </a:lnSpc>
              <a:spcBef>
                <a:spcPct val="0"/>
              </a:spcBef>
            </a:pPr>
          </a:p>
          <a:p>
            <a:pPr algn="ctr">
              <a:lnSpc>
                <a:spcPts val="47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952418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62911"/>
            <a:ext cx="1828800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THỰC HÀNH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7695" y="1810068"/>
            <a:ext cx="6469804" cy="659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b="true" sz="34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Bi</a:t>
            </a:r>
            <a:r>
              <a:rPr lang="en-US" b="true" sz="34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 1:</a:t>
            </a:r>
            <a:r>
              <a:rPr lang="en-US" sz="3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nhận 0 từ C1, nhận 0 từ C3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Mà hiện tại bit 1 nhận được: 1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=&gt; 2 lỗi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b="true" sz="34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Bit 2:</a:t>
            </a:r>
            <a:r>
              <a:rPr lang="en-US" sz="3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nhận 1 từ C1, nhận 0 từ C2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Mà hiện tại bit 2 nhận được: 0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=&gt; 1 lỗi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b="true" sz="34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Bit 3:</a:t>
            </a:r>
            <a:r>
              <a:rPr lang="en-US" sz="3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nhận 1 từ C2, nhận 1 từ C3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Mà hiện tại bit 3 nhận được: 1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=&gt; 0 lỗi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75982" y="1686120"/>
            <a:ext cx="6448187" cy="659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b="true" sz="34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Bit 4:</a:t>
            </a:r>
            <a:r>
              <a:rPr lang="en-US" sz="3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nhận 1 từ C1, nhận 0 từ C4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Mà hiện tại bit 4 nhận được: 0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=&gt; 1 lỗi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b="true" sz="34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Bit 5:</a:t>
            </a:r>
            <a:r>
              <a:rPr lang="en-US" sz="3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nhận 1 từ C2, nhận 0 từ C3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Mà hiện tại bit 5 nhận được: 0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=&gt; 1 lỗi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b="true" sz="340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Bit 6:</a:t>
            </a:r>
            <a:r>
              <a:rPr lang="en-US" sz="3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nhận 0 từ C3, nhận 1 từ C4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Mà hiện tại bit 6 nhận được: 1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=&gt; 1 lỗi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14350" y="8607769"/>
            <a:ext cx="17259300" cy="1644650"/>
            <a:chOff x="0" y="0"/>
            <a:chExt cx="23012400" cy="219286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0"/>
              <a:ext cx="23012400" cy="2288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5000" b="true">
                  <a:solidFill>
                    <a:srgbClr val="FF0013"/>
                  </a:solidFill>
                  <a:latin typeface="K2D Bold"/>
                  <a:ea typeface="K2D Bold"/>
                  <a:cs typeface="K2D Bold"/>
                  <a:sym typeface="K2D Bold"/>
                </a:rPr>
                <a:t>Vậy bit 1 nhiều lỗi nhất (2 lỗi)</a:t>
              </a:r>
            </a:p>
            <a:p>
              <a:pPr algn="ctr">
                <a:lnSpc>
                  <a:spcPts val="7000"/>
                </a:lnSpc>
                <a:spcBef>
                  <a:spcPct val="0"/>
                </a:spcBef>
              </a:pPr>
              <a:r>
                <a:rPr lang="en-US" b="true" sz="5000">
                  <a:solidFill>
                    <a:srgbClr val="FF0013"/>
                  </a:solidFill>
                  <a:latin typeface="K2D Bold"/>
                  <a:ea typeface="K2D Bold"/>
                  <a:cs typeface="K2D Bold"/>
                  <a:sym typeface="K2D Bold"/>
                </a:rPr>
                <a:t>Vậy sau khi lật bit 1, thì c= [001011]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4050886" y="1039283"/>
              <a:ext cx="329248" cy="666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F0013"/>
                  </a:solidFill>
                  <a:latin typeface="K2D Bold"/>
                  <a:ea typeface="K2D Bold"/>
                  <a:cs typeface="K2D Bold"/>
                  <a:sym typeface="K2D Bold"/>
                </a:rPr>
                <a:t>^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39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75921" y="117628"/>
            <a:ext cx="12936158" cy="10051745"/>
          </a:xfrm>
          <a:custGeom>
            <a:avLst/>
            <a:gdLst/>
            <a:ahLst/>
            <a:cxnLst/>
            <a:rect r="r" b="b" t="t" l="l"/>
            <a:pathLst>
              <a:path h="10051745" w="12936158">
                <a:moveTo>
                  <a:pt x="0" y="0"/>
                </a:moveTo>
                <a:lnTo>
                  <a:pt x="12936158" y="0"/>
                </a:lnTo>
                <a:lnTo>
                  <a:pt x="12936158" y="10051744"/>
                </a:lnTo>
                <a:lnTo>
                  <a:pt x="0" y="10051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39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600200"/>
            <a:ext cx="18288000" cy="7086600"/>
          </a:xfrm>
          <a:custGeom>
            <a:avLst/>
            <a:gdLst/>
            <a:ahLst/>
            <a:cxnLst/>
            <a:rect r="r" b="b" t="t" l="l"/>
            <a:pathLst>
              <a:path h="7086600" w="18288000">
                <a:moveTo>
                  <a:pt x="0" y="0"/>
                </a:moveTo>
                <a:lnTo>
                  <a:pt x="18288000" y="0"/>
                </a:lnTo>
                <a:lnTo>
                  <a:pt x="18288000" y="7086600"/>
                </a:lnTo>
                <a:lnTo>
                  <a:pt x="0" y="7086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39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703070"/>
            <a:ext cx="18288000" cy="6880860"/>
          </a:xfrm>
          <a:custGeom>
            <a:avLst/>
            <a:gdLst/>
            <a:ahLst/>
            <a:cxnLst/>
            <a:rect r="r" b="b" t="t" l="l"/>
            <a:pathLst>
              <a:path h="6880860" w="18288000">
                <a:moveTo>
                  <a:pt x="0" y="0"/>
                </a:moveTo>
                <a:lnTo>
                  <a:pt x="18288000" y="0"/>
                </a:lnTo>
                <a:lnTo>
                  <a:pt x="18288000" y="6880860"/>
                </a:lnTo>
                <a:lnTo>
                  <a:pt x="0" y="6880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39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65179" y="283297"/>
            <a:ext cx="11957642" cy="9720406"/>
          </a:xfrm>
          <a:custGeom>
            <a:avLst/>
            <a:gdLst/>
            <a:ahLst/>
            <a:cxnLst/>
            <a:rect r="r" b="b" t="t" l="l"/>
            <a:pathLst>
              <a:path h="9720406" w="11957642">
                <a:moveTo>
                  <a:pt x="0" y="0"/>
                </a:moveTo>
                <a:lnTo>
                  <a:pt x="11957642" y="0"/>
                </a:lnTo>
                <a:lnTo>
                  <a:pt x="11957642" y="9720406"/>
                </a:lnTo>
                <a:lnTo>
                  <a:pt x="0" y="9720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39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73688" y="0"/>
            <a:ext cx="7540625" cy="10287000"/>
          </a:xfrm>
          <a:custGeom>
            <a:avLst/>
            <a:gdLst/>
            <a:ahLst/>
            <a:cxnLst/>
            <a:rect r="r" b="b" t="t" l="l"/>
            <a:pathLst>
              <a:path h="10287000" w="7540625">
                <a:moveTo>
                  <a:pt x="0" y="0"/>
                </a:moveTo>
                <a:lnTo>
                  <a:pt x="7540624" y="0"/>
                </a:lnTo>
                <a:lnTo>
                  <a:pt x="754062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7166" y="0"/>
            <a:ext cx="18395166" cy="10287000"/>
            <a:chOff x="0" y="0"/>
            <a:chExt cx="484481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4817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44817">
                  <a:moveTo>
                    <a:pt x="0" y="0"/>
                  </a:moveTo>
                  <a:lnTo>
                    <a:pt x="4844817" y="0"/>
                  </a:lnTo>
                  <a:lnTo>
                    <a:pt x="484481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44817" cy="277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333203" y="9678747"/>
            <a:ext cx="1621594" cy="1621594"/>
          </a:xfrm>
          <a:custGeom>
            <a:avLst/>
            <a:gdLst/>
            <a:ahLst/>
            <a:cxnLst/>
            <a:rect r="r" b="b" t="t" l="l"/>
            <a:pathLst>
              <a:path h="1621594" w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31034" y="0"/>
            <a:ext cx="18550068" cy="10287000"/>
            <a:chOff x="0" y="0"/>
            <a:chExt cx="24733424" cy="13716000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4">
              <a:alphaModFix amt="14000"/>
            </a:blip>
            <a:srcRect l="0" t="1799" r="0" b="14965"/>
            <a:stretch>
              <a:fillRect/>
            </a:stretch>
          </p:blipFill>
          <p:spPr>
            <a:xfrm flipH="false" flipV="false">
              <a:off x="0" y="0"/>
              <a:ext cx="24733424" cy="13716000"/>
            </a:xfrm>
            <a:prstGeom prst="rect">
              <a:avLst/>
            </a:prstGeom>
          </p:spPr>
        </p:pic>
      </p:grpSp>
      <p:sp>
        <p:nvSpPr>
          <p:cNvPr name="Freeform 8" id="8"/>
          <p:cNvSpPr/>
          <p:nvPr/>
        </p:nvSpPr>
        <p:spPr>
          <a:xfrm flipH="false" flipV="false" rot="0">
            <a:off x="8479230" y="-664770"/>
            <a:ext cx="1329540" cy="1329540"/>
          </a:xfrm>
          <a:custGeom>
            <a:avLst/>
            <a:gdLst/>
            <a:ahLst/>
            <a:cxnLst/>
            <a:rect r="r" b="b" t="t" l="l"/>
            <a:pathLst>
              <a:path h="1329540" w="1329540">
                <a:moveTo>
                  <a:pt x="0" y="0"/>
                </a:moveTo>
                <a:lnTo>
                  <a:pt x="1329540" y="0"/>
                </a:lnTo>
                <a:lnTo>
                  <a:pt x="1329540" y="1329540"/>
                </a:lnTo>
                <a:lnTo>
                  <a:pt x="0" y="13295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18937" y="3248872"/>
            <a:ext cx="14050126" cy="260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0"/>
              </a:lnSpc>
            </a:pPr>
            <a:r>
              <a:rPr lang="en-US" sz="8000" b="true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NHÓM 1 XIN CẢM ƠN</a:t>
            </a:r>
          </a:p>
          <a:p>
            <a:pPr algn="ctr">
              <a:lnSpc>
                <a:spcPts val="10400"/>
              </a:lnSpc>
            </a:pPr>
            <a:r>
              <a:rPr lang="en-US" b="true" sz="80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QUÝ THẦY VÀ CÁC BẠN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DAHGopPqTN8</dc:identifier>
  <dcterms:modified xsi:type="dcterms:W3CDTF">2011-08-01T06:04:30Z</dcterms:modified>
  <cp:revision>1</cp:revision>
  <dc:title>LDPC_Group1</dc:title>
</cp:coreProperties>
</file>